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7" r:id="rId10"/>
    <p:sldId id="266" r:id="rId11"/>
    <p:sldId id="263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ихаил Казанцев" initials="МК" lastIdx="1" clrIdx="0">
    <p:extLst>
      <p:ext uri="{19B8F6BF-5375-455C-9EA6-DF929625EA0E}">
        <p15:presenceInfo xmlns:p15="http://schemas.microsoft.com/office/powerpoint/2012/main" userId="92553047035e24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92" autoAdjust="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EC885-3E6B-4725-B0A1-7C6B67AA5273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639B3-4636-4EC2-9B4C-2209A972E9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67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39B3-4636-4EC2-9B4C-2209A972E94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633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4F34D-634E-4990-BA42-BF80DC1E8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F21324-94E7-46E4-A401-0C81D0DD5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81677C-EF56-43C9-BA1C-3C4BA914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20D6-2A5C-4AF4-98C7-B80A1011DB3B}" type="datetime1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0A89C-14AA-4A9E-BB2A-73425859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D0236-D40B-4031-8CB5-2FA3B978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26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F5D62-DF8B-49A1-A965-3F70BAD4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E9FC2C-20E1-41D3-AEF5-8D4BA52B1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D5EE61-DAD9-4B00-91F1-6CE3948E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BE435-E2A6-407D-BD0B-5541378B299C}" type="datetime1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279E20-9D6C-4EBC-BB99-9117DE31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6FD80A-2676-4F89-8E27-E02D9DEB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98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371A4-B104-47CC-885A-F9DFE76E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72C047-7D44-48F4-897B-E6EEE069A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FDBB2F-05E2-496C-BA4E-9989995C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2CE9-6D0E-467E-9644-D31CE26D74C2}" type="datetime1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247215-367A-42E3-A115-66E7C72F8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5168E-C9AC-42B4-809C-2DB6986A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93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175C2-F8EC-475F-AA63-18BF668B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8A3881-3DE2-4CC8-8684-FA8BFCF4B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31F2FD-2EC9-48E8-A80A-12F7E6CB4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9F15D4-A68F-4AB0-916C-8E91B59E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466AF-1117-4D84-852B-A578CF0C1F36}" type="datetime1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09991E-760C-4245-9E6D-F268E39C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7D42E3-110C-4CB4-8C8A-68084C0C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0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B1778-84B5-4D66-BAC6-59A159DE1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EF1C1F-D81C-4A65-B75C-01C9A1DB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F4F0E3-D9B4-48FB-B22A-5DB0AD65A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64C4EB-CC3C-41C7-9F26-32419C0CD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F467B95-A3A8-446E-81DB-0444FA02E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F40D46E-13FA-4F8C-9639-419F015E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95B28-2ECB-4C35-A6EC-D4AC4462E93C}" type="datetime1">
              <a:rPr lang="ru-RU" smtClean="0"/>
              <a:t>20.03.2026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0FDBF2-EE90-4CFC-9568-AD88FE41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335829-60F5-45C4-BFB4-64E26B7E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30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B4DE0-22F3-471E-856E-B862B92E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1125FD-057F-497A-AB6E-0E6D9FA31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3FB85-0E64-48D0-B0DA-81E2A53CF0B5}" type="datetime1">
              <a:rPr lang="ru-RU" smtClean="0"/>
              <a:t>20.03.2026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69DAD9-C98C-4937-82C8-63E9E4A1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F7E409-0906-4BBA-8CC7-E5EFA1F9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736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5D022B-6277-4402-AE84-DA7E6F16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549BD-0812-4612-8CCE-B9878AD684CC}" type="datetime1">
              <a:rPr lang="ru-RU" smtClean="0"/>
              <a:t>20.03.2026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7E71E8-682D-4D60-9A9D-A2AEBF3B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E9D7EC-05ED-483C-9D51-581ED8D9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711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6012D-431D-47BE-B43D-A6F01DC7F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D49D92-3DF1-42A4-BE1D-5E73DAF20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89817B-1A2D-4085-8FC4-C4B0217D5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148CA6-2897-4746-A2C5-6438953B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17F28-AF2F-4230-B28C-2B310F703691}" type="datetime1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DE838F-A883-499B-93AE-450573A3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5FFAB9-8747-4C63-8788-9FE4DA5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07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E729A-BC88-434F-B926-C05C46F3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41D617-4DAC-4019-8D11-D179851DE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EBE749-EF94-4E33-9F65-CE500474E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FFC2C8-1A6A-488B-BADB-5DE90DCB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BA5C-BF02-4CD3-B1FF-D80EA28281B1}" type="datetime1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E4479A-BDC0-4395-B9C9-F356E984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55D06C-A5CD-4FF8-B837-51A0634E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34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3D574-7289-4F20-951F-BBE235CD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EFAB705-283D-480B-B5AA-A8E105927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9724B8-4810-44C0-9B22-069E26511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40D6C-4A79-4240-AAF7-788D9850CDE9}" type="datetime1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40EC42-5585-4EFC-8008-58A660C4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3A3389-C789-4176-8CBC-C91FF9C9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21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5AEE5B-D3A4-4844-9EF3-613D80B13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574E67-181E-4C64-BC76-C6E95E8D1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53551B-8679-4765-B81E-13A72FC9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3155-C9F4-42BE-915C-A0807D809496}" type="datetime1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B4C43B-9A4C-4E21-811B-96B0EDF6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F264DB-67E3-4FCB-9E3F-670AB587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22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AC4F3-4663-42F5-A50A-1EE197DF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603764-2A94-410D-950F-6F2CF397D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EEA9CE-284D-4D37-AB77-C52543D4D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26726-0499-415E-921E-63FE8909DCCB}" type="datetime1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0C2D0E-817E-4C9E-80E7-15D454296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21EDEC-6294-4D6F-BBAE-C259806E2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84207-520D-4FA7-A6E5-A936AA3C1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2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6.08373" TargetMode="External"/><Relationship Id="rId2" Type="http://schemas.openxmlformats.org/officeDocument/2006/relationships/hyperlink" Target="https://www.militaryaerospace.com/directory/electro-optics/optical-imaging/blog/55264240/avantier-inc-silicon-carbide-mirror-for-aerospace-applicat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uthors.library.caltech.edu/records/v0wpe-pk203" TargetMode="External"/><Relationship Id="rId4" Type="http://schemas.openxmlformats.org/officeDocument/2006/relationships/hyperlink" Target="https://ieeexplore.ieee.org/document/836604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162A8-3C7D-4E88-8045-4D5A3676EB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1" u="none" strike="noStrike" spc="0" dirty="0">
                <a:effectLst/>
              </a:rPr>
              <a:t>Расчёт необходимых экономических и ресурсных затрат на создание Роя Дайсона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7847FB-3436-4A9C-920F-2D30438A1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832991"/>
          </a:xfrm>
        </p:spPr>
        <p:txBody>
          <a:bodyPr>
            <a:normAutofit/>
          </a:bodyPr>
          <a:lstStyle/>
          <a:p>
            <a:pPr algn="l"/>
            <a:r>
              <a:rPr lang="ru-RU" b="1" dirty="0"/>
              <a:t>Выполнили</a:t>
            </a:r>
            <a:r>
              <a:rPr lang="ru-RU" dirty="0"/>
              <a:t>:</a:t>
            </a:r>
          </a:p>
          <a:p>
            <a:r>
              <a:rPr lang="ru-RU" dirty="0"/>
              <a:t>Казанцев Михаил, Поздняков Михаил, Гусаков Степан</a:t>
            </a:r>
          </a:p>
          <a:p>
            <a:pPr algn="l"/>
            <a:r>
              <a:rPr lang="ru-RU" b="1" dirty="0"/>
              <a:t>Научный руководитель:</a:t>
            </a:r>
          </a:p>
          <a:p>
            <a:r>
              <a:rPr lang="ru-RU" dirty="0"/>
              <a:t>Лавренко Степан Андреевич, НИЯУ МИФИ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2F9549-D803-49D9-BBD5-81C1AC413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62254" cy="18635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A5417E-1B17-4091-B9B5-0CE94BF28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8430" y="1"/>
            <a:ext cx="1863569" cy="18635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FB941C-8C64-4503-A580-6ACACDDD17E4}"/>
              </a:ext>
            </a:extLst>
          </p:cNvPr>
          <p:cNvSpPr txBox="1"/>
          <p:nvPr/>
        </p:nvSpPr>
        <p:spPr>
          <a:xfrm>
            <a:off x="1862912" y="414477"/>
            <a:ext cx="8466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Университетский лицей № 1511 </a:t>
            </a:r>
            <a:r>
              <a:rPr lang="ru-RU" sz="2000" dirty="0" err="1"/>
              <a:t>Предуниверситария</a:t>
            </a:r>
            <a:endParaRPr lang="ru-RU" sz="2000" dirty="0"/>
          </a:p>
          <a:p>
            <a:pPr algn="ctr"/>
            <a:r>
              <a:rPr lang="ru-RU" sz="2000" dirty="0"/>
              <a:t>НИЯУ МИФИ, Москва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6661ED2D-70E6-4335-B4E8-198F7DDF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1</a:t>
            </a:fld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479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423B1F-DEC4-49E2-9691-E3F821F1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/>
              <a:t>Актуальность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8F5C72-E445-4567-91E8-33348D8BD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11224"/>
            <a:ext cx="5963292" cy="558165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ru-RU" dirty="0"/>
              <a:t>Ископаемое топливо и уран при текущем уровне потребления будут исчерпаны через 50–60 лет, что делает переход на возобновляемые источники критически важным. К ним относятся энергия солнца, ветра, приливов, геотермальная и гидроэнергетика.</a:t>
            </a:r>
          </a:p>
          <a:p>
            <a:pPr algn="just">
              <a:lnSpc>
                <a:spcPct val="120000"/>
              </a:lnSpc>
            </a:pPr>
            <a:r>
              <a:rPr lang="ru-RU" dirty="0"/>
              <a:t>Рост населения и энергопотребления развивающихся стран также увеличивает спрос на «зеленую» энергетику. По прогнозам, к 2050 году ее доля может достичь 70% на фоне общего роста потребления энергии на четверть (оценка ОПЕК).</a:t>
            </a:r>
          </a:p>
          <a:p>
            <a:pPr algn="just">
              <a:lnSpc>
                <a:spcPct val="120000"/>
              </a:lnSpc>
            </a:pPr>
            <a:r>
              <a:rPr lang="ru-RU" dirty="0"/>
              <a:t>Наиболее перспективным направлением считается солнечная энергетика. Ее главное преимущество среди прочих — возможность добычи в космосе, где эффективность выше из-за отсутствия атмосферы. Развитие космических солнечных станций позволит передавать энергию на Землю лазерным лучом или СВЧ-излучением, что также решит проблему энергоснабжения спутников и будущих межпланетных миссий.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AAF572-9DA0-4A9C-A40B-461C0449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2</a:t>
            </a:fld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418477-B48A-4DDB-99BB-548442F27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493" y="1140431"/>
            <a:ext cx="4552307" cy="481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41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BABFF1-065A-44E3-80AA-15BAF650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399" y="6492875"/>
            <a:ext cx="2743200" cy="365125"/>
          </a:xfrm>
        </p:spPr>
        <p:txBody>
          <a:bodyPr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0FAD0-5D32-4F90-850D-3FB7B048F4AE}"/>
              </a:ext>
            </a:extLst>
          </p:cNvPr>
          <p:cNvSpPr txBox="1"/>
          <p:nvPr/>
        </p:nvSpPr>
        <p:spPr>
          <a:xfrm>
            <a:off x="950359" y="692575"/>
            <a:ext cx="10291281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Цель: Рассчитать количество необходимых ресурсов и денежных затрат на сборку, установку и поддержку работоспособности роя Дайсона, его эффективность и окупаемость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AD84F-C25E-431B-8B0D-5BC7FA53AD66}"/>
              </a:ext>
            </a:extLst>
          </p:cNvPr>
          <p:cNvSpPr txBox="1"/>
          <p:nvPr/>
        </p:nvSpPr>
        <p:spPr>
          <a:xfrm>
            <a:off x="950359" y="2928135"/>
            <a:ext cx="100703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Задачи: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Анализ технических аспектов мега-структуры, определение и выбор необходимых материалов, оценка их количества, стоимости, времени на добычу</a:t>
            </a:r>
            <a:r>
              <a:rPr lang="en-US" sz="2400" dirty="0"/>
              <a:t>/</a:t>
            </a:r>
            <a:r>
              <a:rPr lang="ru-RU" sz="2400" dirty="0"/>
              <a:t>производство.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Расчёт затрат на изготовление компонентов Роя, доставку их в космос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Расчёт времени на создание Роя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Определение эффективности Роя, его конечной стоимости, окупаемости</a:t>
            </a:r>
          </a:p>
        </p:txBody>
      </p:sp>
    </p:spTree>
    <p:extLst>
      <p:ext uri="{BB962C8B-B14F-4D97-AF65-F5344CB8AC3E}">
        <p14:creationId xmlns:p14="http://schemas.microsoft.com/office/powerpoint/2010/main" val="331793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B130A-E5ED-47F6-939A-05C5156C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4484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Введение. Принцип работы Роя Дайсона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5FC596-593E-4CA6-821B-366B48D2C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занимаемся тем, что проводим расчёт Роя Дайсона – мегаструктуры, представляющей собой россыпь спутников, принимающих энергию солнца, находясь при этом на его орбите. </a:t>
            </a:r>
          </a:p>
          <a:p>
            <a:r>
              <a:rPr lang="ru-RU" dirty="0"/>
              <a:t>В нашем проекте система работает по следующей схеме: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279E95-6097-4B1C-89BB-BE337195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4</a:t>
            </a:fld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87A11731-46CD-C8A0-3ED0-E8D863376159}"/>
              </a:ext>
            </a:extLst>
          </p:cNvPr>
          <p:cNvSpPr/>
          <p:nvPr/>
        </p:nvSpPr>
        <p:spPr>
          <a:xfrm>
            <a:off x="2216727" y="37589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1BC3AF98-6C37-375A-C11F-80C1A70E11B9}"/>
              </a:ext>
            </a:extLst>
          </p:cNvPr>
          <p:cNvSpPr/>
          <p:nvPr/>
        </p:nvSpPr>
        <p:spPr>
          <a:xfrm>
            <a:off x="5469776" y="37589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4F6DE166-D292-5D67-32B6-2C6C2EAB683E}"/>
              </a:ext>
            </a:extLst>
          </p:cNvPr>
          <p:cNvSpPr/>
          <p:nvPr/>
        </p:nvSpPr>
        <p:spPr>
          <a:xfrm>
            <a:off x="8256067" y="4231767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20E6B9-CBB7-AC1B-D247-D1AC403B5ACF}"/>
              </a:ext>
            </a:extLst>
          </p:cNvPr>
          <p:cNvSpPr txBox="1"/>
          <p:nvPr/>
        </p:nvSpPr>
        <p:spPr>
          <a:xfrm>
            <a:off x="7025183" y="5210175"/>
            <a:ext cx="294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Ретрансляторы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A9DDE-5E9F-2729-F32C-A3B44B948C0C}"/>
              </a:ext>
            </a:extLst>
          </p:cNvPr>
          <p:cNvSpPr txBox="1"/>
          <p:nvPr/>
        </p:nvSpPr>
        <p:spPr>
          <a:xfrm>
            <a:off x="838200" y="3739684"/>
            <a:ext cx="1321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Солнце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6C524-9808-2070-21B5-FC893595EF35}"/>
              </a:ext>
            </a:extLst>
          </p:cNvPr>
          <p:cNvSpPr txBox="1"/>
          <p:nvPr/>
        </p:nvSpPr>
        <p:spPr>
          <a:xfrm>
            <a:off x="3052896" y="3720168"/>
            <a:ext cx="2501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Отражатели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F5633-FB85-12C4-9644-E8290B3A11A4}"/>
              </a:ext>
            </a:extLst>
          </p:cNvPr>
          <p:cNvSpPr txBox="1"/>
          <p:nvPr/>
        </p:nvSpPr>
        <p:spPr>
          <a:xfrm>
            <a:off x="6591074" y="3720168"/>
            <a:ext cx="3814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Первичные приёмники</a:t>
            </a: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CA8E7D08-4839-7108-114E-BF34213D57FE}"/>
              </a:ext>
            </a:extLst>
          </p:cNvPr>
          <p:cNvSpPr/>
          <p:nvPr/>
        </p:nvSpPr>
        <p:spPr>
          <a:xfrm rot="10800000">
            <a:off x="6217275" y="522946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3CB0B-8224-9000-B1DE-BCCEAC67E8B4}"/>
              </a:ext>
            </a:extLst>
          </p:cNvPr>
          <p:cNvSpPr txBox="1"/>
          <p:nvPr/>
        </p:nvSpPr>
        <p:spPr>
          <a:xfrm>
            <a:off x="3690209" y="4994731"/>
            <a:ext cx="29008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Вторичные приёмники</a:t>
            </a:r>
          </a:p>
        </p:txBody>
      </p:sp>
    </p:spTree>
    <p:extLst>
      <p:ext uri="{BB962C8B-B14F-4D97-AF65-F5344CB8AC3E}">
        <p14:creationId xmlns:p14="http://schemas.microsoft.com/office/powerpoint/2010/main" val="1463867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540AC-EC7E-484A-900A-860AAE89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/>
              <a:t>1. Отражатели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22D33F1-F9D0-4849-BF1C-D83430B8F5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Ключевые материалы: алюминий, карбид кремния, </a:t>
                </a:r>
                <a:r>
                  <a:rPr lang="en-US" dirty="0" err="1"/>
                  <a:t>TiO</a:t>
                </a:r>
                <a:r>
                  <a:rPr lang="en-US" dirty="0"/>
                  <a:t>₂/</a:t>
                </a:r>
                <a:r>
                  <a:rPr lang="en-US" dirty="0" err="1"/>
                  <a:t>SiO</a:t>
                </a:r>
                <a:r>
                  <a:rPr lang="en-US" dirty="0"/>
                  <a:t>₂</a:t>
                </a:r>
                <a:r>
                  <a:rPr lang="ru-RU" dirty="0"/>
                  <a:t> в качестве тугоплавкой диэлектрической плёнки</a:t>
                </a:r>
              </a:p>
              <a:p>
                <a:pPr marL="0" indent="0">
                  <a:buNone/>
                </a:pPr>
                <a:r>
                  <a:rPr lang="ru-RU" dirty="0"/>
                  <a:t>Расстояние от солнца – </a:t>
                </a:r>
                <a:r>
                  <a:rPr lang="en-US" dirty="0"/>
                  <a:t>~0,22</a:t>
                </a:r>
                <a:r>
                  <a:rPr lang="ru-RU" dirty="0"/>
                  <a:t> а.е. (примерно 33 млн км) 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На 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м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панели будет приходится 17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м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зеркал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На начальном этапе планируется запустить </a:t>
                </a:r>
                <a:r>
                  <a:rPr lang="en-US" dirty="0"/>
                  <a:t>~11 200 </a:t>
                </a:r>
                <a:r>
                  <a:rPr lang="ru-RU" dirty="0"/>
                  <a:t>зеркал общей площадью 2 800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м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22D33F1-F9D0-4849-BF1C-D83430B8F5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2EC18C-71B6-491C-911E-3F0DAC72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5</a:t>
            </a:fld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145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368F50-D612-4EB7-A2AE-D8856C3E7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/>
              <a:t>2. Первичные приёмники, панели-передатчики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4FEC12-4CCC-456B-A17D-5573311BE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Ключевые материалы: Фосфид галлия (</a:t>
            </a:r>
            <a:r>
              <a:rPr lang="en-US" dirty="0" err="1"/>
              <a:t>GaP</a:t>
            </a:r>
            <a:r>
              <a:rPr lang="en-US" dirty="0"/>
              <a:t>)</a:t>
            </a:r>
            <a:r>
              <a:rPr lang="ru-RU" dirty="0"/>
              <a:t> и его соединения, нитрид галлия на алмазной подложке, алюминий с никелевым покрытием или карбид кремния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Примерное количество начальном этапе </a:t>
            </a:r>
            <a:r>
              <a:rPr lang="en-US" dirty="0"/>
              <a:t>~ 800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 перспективе переход с микроволнового излучения на лазерное позволит повысить эффективность передачи.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CFF77E-1271-412B-9553-F9139555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6</a:t>
            </a:fld>
            <a:endParaRPr lang="ru-RU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8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DAC8E-F3E2-A268-3051-15DF8896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dirty="0"/>
              <a:t>3. Ретрансляторы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59BDD8-1259-3375-43A2-A33F9E1F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Используются для того, чтобы снизить размер принимающих антенн и повысить эффективность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 диаметре в 1 км количество ретрансляторов </a:t>
            </a:r>
            <a:r>
              <a:rPr lang="en-US" dirty="0"/>
              <a:t>~400 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Количество снижается при увеличении диаметра – например при диаметре в 10 км потребуется уже 50 ретрансляторов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B518FA-61F7-28B8-A31F-BC236A70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7</a:t>
            </a:fld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97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D2C571-E8DF-704A-35BA-1E5870C9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dirty="0"/>
              <a:t>4.Вторичные приёмники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F0BA11-10C2-4D9F-9C71-3F2CA715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Ключевые материалы (наряду с ретрансляторами): </a:t>
            </a:r>
            <a:r>
              <a:rPr lang="ru-RU" dirty="0" err="1"/>
              <a:t>полимидные</a:t>
            </a:r>
            <a:r>
              <a:rPr lang="ru-RU" dirty="0"/>
              <a:t> пленки с медными слоями, </a:t>
            </a:r>
            <a:r>
              <a:rPr lang="en-US" dirty="0" err="1"/>
              <a:t>MoS</a:t>
            </a:r>
            <a:r>
              <a:rPr lang="en-US" dirty="0"/>
              <a:t>₂ (</a:t>
            </a:r>
            <a:r>
              <a:rPr lang="ru-RU" dirty="0"/>
              <a:t>дисульфид молибдена)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Размещаются по всей поверхности земли. Ориентировочный диаметр </a:t>
            </a:r>
            <a:r>
              <a:rPr lang="en-US" dirty="0"/>
              <a:t>~</a:t>
            </a:r>
            <a:r>
              <a:rPr lang="ru-RU" dirty="0"/>
              <a:t>1 км.</a:t>
            </a:r>
          </a:p>
          <a:p>
            <a:pPr marL="0" indent="0">
              <a:buNone/>
            </a:pPr>
            <a:r>
              <a:rPr lang="ru-RU" dirty="0"/>
              <a:t>Количество: от 50 до 1000 в зависимости от потребностей мировой экономики по распределению (ретрансляторы могут перенаправлять поток излучения туда, куда необходимо)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8FC544-2C5F-15F3-33EC-C28D0385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8</a:t>
            </a:fld>
            <a:endParaRPr lang="ru-RU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41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8E695-554D-40A8-99F9-948E1C28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/>
              <a:t>Эффективность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D703BC-09E7-4DAB-94A8-A56E98364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Начиная с отражения и заканчивая приёмом не земле, теряется 95,6% энергии. В перспективе эта цифра может снизиться с развитием технологий и отказом от системы с ретрансляторами в пользу перехода на лазерную передачу. </a:t>
            </a:r>
          </a:p>
          <a:p>
            <a:r>
              <a:rPr lang="ru-RU" dirty="0"/>
              <a:t>Каждый квадратный метр зеркала даёт в конечном счёте </a:t>
            </a:r>
            <a:r>
              <a:rPr lang="en-US" dirty="0"/>
              <a:t>~ 1,2</a:t>
            </a:r>
            <a:r>
              <a:rPr lang="ru-RU" dirty="0"/>
              <a:t> кВт энергии на земле.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11190C-206F-42CD-B7BA-DDE19D54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9</a:t>
            </a:fld>
            <a:endParaRPr lang="ru-RU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42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F3B34-7724-4F80-AEC3-9158179F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dirty="0"/>
              <a:t>Ключевые</a:t>
            </a:r>
            <a:r>
              <a:rPr lang="ru-RU" dirty="0"/>
              <a:t> проблемы создания Роя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CAE79A-6D88-4566-A95F-E28FAA90B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3200" dirty="0"/>
              <a:t>Международное сотрудничество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/>
              <a:t>Синхронизация системы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/>
              <a:t>Безопасность излучения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/>
              <a:t>Размещение компонент в космосе, требующее больших вложений в космическую отрасль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/>
              <a:t>Потери энергии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9E1F2F-0F92-47F7-A1D2-C4D8A5DB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10</a:t>
            </a:fld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99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1B44C-0C8E-B023-4BC4-51559A4AC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dirty="0"/>
              <a:t>Источники</a:t>
            </a:r>
            <a:r>
              <a:rPr lang="ru-RU" dirty="0"/>
              <a:t> (основные)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74039-3463-D038-EE22-13EB90378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1.</a:t>
            </a:r>
            <a:r>
              <a:rPr lang="en-US" sz="2000" dirty="0"/>
              <a:t>http://chibis.cosmos.ru/index.php?id=1671&amp;L=cxkcbxamp%27123&amp;tx_ttnews%5Btt_news%5D=677&amp;cHash=c24950ffd6f04121a52c98bd44166e1c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2.</a:t>
            </a:r>
            <a:r>
              <a:rPr lang="en-US" sz="2000" dirty="0"/>
              <a:t> </a:t>
            </a:r>
            <a:r>
              <a:rPr lang="en-US" sz="2000" dirty="0">
                <a:hlinkClick r:id="rId2"/>
              </a:rPr>
              <a:t>https://www.militaryaerospace.com/directory/electro-optics/optical-imaging/blog/55264240/avantier-inc-silicon-carbide-mirror-for-aerospace-applications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3. </a:t>
            </a:r>
            <a:r>
              <a:rPr lang="en-US" sz="2000" dirty="0"/>
              <a:t>https://ieeexplore.ieee.org/document/10703104?utm_source=Securitylab.ru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4. </a:t>
            </a:r>
            <a:r>
              <a:rPr lang="en-US" sz="2000" dirty="0">
                <a:hlinkClick r:id="rId3"/>
              </a:rPr>
              <a:t>https://arxiv.org/abs/2206.08373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5.</a:t>
            </a:r>
            <a:r>
              <a:rPr lang="en-US" sz="2000" dirty="0"/>
              <a:t> </a:t>
            </a:r>
            <a:r>
              <a:rPr lang="en-US" sz="2000" dirty="0">
                <a:hlinkClick r:id="rId4"/>
              </a:rPr>
              <a:t>https://ieeexplore.ieee.org/document/8366046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6.</a:t>
            </a:r>
            <a:r>
              <a:rPr lang="en-US" sz="2000" dirty="0"/>
              <a:t> </a:t>
            </a:r>
            <a:r>
              <a:rPr lang="en-US" sz="2000" dirty="0">
                <a:hlinkClick r:id="rId5"/>
              </a:rPr>
              <a:t>https://authors.library.caltech.edu/records/v0wpe-pk203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7.</a:t>
            </a:r>
            <a:r>
              <a:rPr lang="en-US" sz="2000" dirty="0"/>
              <a:t> https://authors.library.caltech.edu/records/hd7br-x6z92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8177A2-4F40-79C4-E824-E50CC050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pPr algn="ctr"/>
            <a:fld id="{4A184207-520D-4FA7-A6E5-A936AA3C1FA2}" type="slidenum">
              <a:rPr lang="ru-RU" sz="2000" smtClean="0">
                <a:solidFill>
                  <a:schemeClr val="tx1"/>
                </a:solidFill>
              </a:rPr>
              <a:pPr algn="ctr"/>
              <a:t>11</a:t>
            </a:fld>
            <a:endParaRPr lang="ru-RU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3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726</Words>
  <Application>Microsoft Office PowerPoint</Application>
  <PresentationFormat>Широкоэкранный</PresentationFormat>
  <Paragraphs>78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Тема Office</vt:lpstr>
      <vt:lpstr>Расчёт необходимых экономических и ресурсных затрат на создание Роя Дайсона</vt:lpstr>
      <vt:lpstr>Актуальность</vt:lpstr>
      <vt:lpstr>Презентация PowerPoint</vt:lpstr>
      <vt:lpstr>Введение. Принцип работы Роя Дайсона</vt:lpstr>
      <vt:lpstr>1. Отражатели</vt:lpstr>
      <vt:lpstr>2. Первичные приёмники, панели-передатчики</vt:lpstr>
      <vt:lpstr>3. Ретрансляторы </vt:lpstr>
      <vt:lpstr>4.Вторичные приёмники</vt:lpstr>
      <vt:lpstr>Эффективность системы</vt:lpstr>
      <vt:lpstr>Ключевые проблемы создания Роя</vt:lpstr>
      <vt:lpstr>Источники (основные)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Михаил Казанцев</dc:creator>
  <cp:lastModifiedBy>dima</cp:lastModifiedBy>
  <cp:revision>31</cp:revision>
  <dcterms:created xsi:type="dcterms:W3CDTF">2026-03-06T17:32:24Z</dcterms:created>
  <dcterms:modified xsi:type="dcterms:W3CDTF">2026-03-20T12:44:30Z</dcterms:modified>
</cp:coreProperties>
</file>